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Space Grotesk"/>
      <ns0:bold ns1:id="rIdFont21"/>
    </ns0:embeddedFont>
    <ns0:embeddedFont>
      <ns0:font typeface="JetBrains Mono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e184342d-b17b-42e6-8989-70966a5f0387.fntdata" /><ns0:Relationship Id="rIdFont20" Type="http://schemas.openxmlformats.org/officeDocument/2006/relationships/font" Target="fonts/52de3f49-3ac8-4dca-b95e-60bca77e23a5.fntdata" /><ns0:Relationship Id="rIdFont21" Type="http://schemas.openxmlformats.org/officeDocument/2006/relationships/font" Target="fonts/3ded7db4-a4f8-495f-8ac5-0094843dd40d.fntdata" /><ns0:Relationship Id="rIdFont22" Type="http://schemas.openxmlformats.org/officeDocument/2006/relationships/font" Target="fonts/569e2797-1a8d-4523-81c6-ba5867fcc9a1.fntdata" /><ns0:Relationship Id="rIdFont23" Type="http://schemas.openxmlformats.org/officeDocument/2006/relationships/font" Target="fonts/412202d6-5db2-4424-ad19-df6d5a50ecf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45223"/>
            <a:ext cx="457200" cy="381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03239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2C55E"/>
                </a:solidFill>
                <a:latin typeface="JetBrains Mono"/>
              </a:rPr>
              <a:t>MODULE 3 SPECIAL TOPIC — LOGISIM EVOLUTION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46139"/>
            <a:ext cx="91011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AFAFA"/>
                </a:solidFill>
                <a:latin typeface="Space Grotesk"/>
              </a:rPr>
              <a:t>Design &amp; Simulation of a 4-Bit Binary Arithmetic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687960"/>
            <a:ext cx="723900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A1A1AA"/>
                </a:solidFill>
                <a:latin typeface="Inter"/>
              </a:rPr>
              <a:t>A Complete Combinational Logic Architecture Supporting Binary Addition, Subtraction, Bitwise Logic, and Status Flag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73785"/>
            <a:ext cx="2857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4E4E7"/>
                </a:solidFill>
                <a:latin typeface="Inter"/>
              </a:rPr>
              <a:t>Digital Logic Architecture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5492"/>
            <a:ext cx="3530649" cy="1824037"/>
          </a:xfrm>
          <a:prstGeom prst="roundRect">
            <a:avLst>
              <a:gd name="adj" fmla="val 6266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985492"/>
            <a:ext cx="3530649" cy="1824037"/>
          </a:xfrm>
          <a:prstGeom prst="roundRect">
            <a:avLst>
              <a:gd name="adj" fmla="val 6266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85492"/>
            <a:ext cx="3530649" cy="1824037"/>
          </a:xfrm>
          <a:prstGeom prst="roundRect">
            <a:avLst>
              <a:gd name="adj" fmla="val 6266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System Functional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Top-level input, output, and operational requirements for the 4-bit 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223617"/>
            <a:ext cx="381799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6A34A"/>
                </a:solidFill>
                <a:latin typeface="Inter"/>
              </a:rPr>
              <a:t>4-Bit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23667"/>
            <a:ext cx="38179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7272A"/>
                </a:solidFill>
                <a:latin typeface="Inter"/>
              </a:rPr>
              <a:t>Operands A &amp;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928467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Two 4-bit DIP switches providing binary inputs A [A3..A0] and B [B3..B0] spanning values 0 to 15.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874" y="3223617"/>
            <a:ext cx="381799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2563EB"/>
                </a:solidFill>
                <a:latin typeface="Inter"/>
              </a:rPr>
              <a:t>2-Bit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623667"/>
            <a:ext cx="38179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7272A"/>
                </a:solidFill>
                <a:latin typeface="Inter"/>
              </a:rPr>
              <a:t>Select Lines [S1, S0]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928467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Function select lines controlling a 4:1 multiplexer to choose between ADD, SUB, AND, and OR functions.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24" y="3223617"/>
            <a:ext cx="381799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97706"/>
                </a:solidFill>
                <a:latin typeface="Inter"/>
              </a:rPr>
              <a:t>Output &amp; 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623667"/>
            <a:ext cx="38179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7272A"/>
                </a:solidFill>
                <a:latin typeface="Inter"/>
              </a:rPr>
              <a:t>Result Bus &amp; LEDs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3928467"/>
            <a:ext cx="314964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4-bit Result Output Y [Y3..Y0] along with Carry Out (Cout), Zero Flag (Z), and Overflow Flag (V).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79890" y="2816423"/>
            <a:ext cx="4602509" cy="2162175"/>
          </a:xfrm>
          <a:prstGeom prst="roundRect">
            <a:avLst>
              <a:gd name="adj" fmla="val 5286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02085"/>
            <a:ext cx="6103590" cy="895350"/>
          </a:xfrm>
          <a:prstGeom prst="roundRect">
            <a:avLst>
              <a:gd name="adj" fmla="val 12765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49835"/>
            <a:ext cx="6103590" cy="895350"/>
          </a:xfrm>
          <a:prstGeom prst="roundRect">
            <a:avLst>
              <a:gd name="adj" fmla="val 1276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497585"/>
            <a:ext cx="6103590" cy="895350"/>
          </a:xfrm>
          <a:prstGeom prst="roundRect">
            <a:avLst>
              <a:gd name="adj" fmla="val 12765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287910"/>
            <a:ext cx="610359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02085"/>
            <a:ext cx="610359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402085"/>
            <a:ext cx="38100" cy="8953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03665" y="2402085"/>
            <a:ext cx="9525" cy="8953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335660"/>
            <a:ext cx="610359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449835"/>
            <a:ext cx="610359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3449835"/>
            <a:ext cx="38100" cy="895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03665" y="3449835"/>
            <a:ext cx="9525" cy="8953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383410"/>
            <a:ext cx="610359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4497585"/>
            <a:ext cx="610359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497585"/>
            <a:ext cx="38100" cy="895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3665" y="4497585"/>
            <a:ext cx="9525" cy="895350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System Block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Combinational datapath mapping input switches through compute blocks to output pins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6590" y="3083123"/>
            <a:ext cx="494540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2C55E"/>
                </a:solidFill>
                <a:latin typeface="JetBrains Mono"/>
              </a:rPr>
              <a:t>Control Line 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2640210"/>
            <a:ext cx="69984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Inter"/>
              </a:rPr>
              <a:t>1. Arithmetic Processing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2878335"/>
            <a:ext cx="69984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66534"/>
                </a:solidFill>
                <a:latin typeface="Inter"/>
              </a:rPr>
              <a:t>4-Bit Ripple Carry Adder paired with XOR mode-controlled input inverters.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687960"/>
            <a:ext cx="69984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3A8A"/>
                </a:solidFill>
                <a:latin typeface="Inter"/>
              </a:rPr>
              <a:t>2. Bitwise Logic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300" y="3926085"/>
            <a:ext cx="69984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40AF"/>
                </a:solidFill>
                <a:latin typeface="Inter"/>
              </a:rPr>
              <a:t>Parallel arrays of 4 AND gates and 4 OR gates computing logical operations.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4735710"/>
            <a:ext cx="69984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8350F"/>
                </a:solidFill>
                <a:latin typeface="Inter"/>
              </a:rPr>
              <a:t>3. 4-Bit Quad 4:1 MUX Array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300" y="4973835"/>
            <a:ext cx="69984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2400E"/>
                </a:solidFill>
                <a:latin typeface="Inter"/>
              </a:rPr>
              <a:t>Routes calculated arithmetic or logic results to final result bus based on S1, S0.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6590" y="3454598"/>
            <a:ext cx="494540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A1A1AA"/>
                </a:solidFill>
                <a:latin typeface="JetBrains Mono"/>
              </a:rPr>
              <a:t>S1 S0 = 00 :</a:t>
            </a:r>
            <a:r>
              <a:rPr b="0" sz="1125" i="0" u="none">
                <a:solidFill>
                  <a:srgbClr val="A1A1AA"/>
                </a:solidFill>
                <a:latin typeface="JetBrains Mono"/>
              </a:rPr>
              <a:t> </a:t>
            </a:r>
            <a:r>
              <a:rPr b="0" sz="1125" i="0" u="none">
                <a:solidFill>
                  <a:srgbClr val="4ADE80"/>
                </a:solidFill>
                <a:latin typeface="JetBrains Mono"/>
              </a:rPr>
              <a:t>Addition (A + 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6590" y="3768923"/>
            <a:ext cx="494540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A1A1AA"/>
                </a:solidFill>
                <a:latin typeface="JetBrains Mono"/>
              </a:rPr>
              <a:t>S1 S0 = 01 :</a:t>
            </a:r>
            <a:r>
              <a:rPr b="0" sz="1125" i="0" u="none">
                <a:solidFill>
                  <a:srgbClr val="A1A1AA"/>
                </a:solidFill>
                <a:latin typeface="JetBrains Mono"/>
              </a:rPr>
              <a:t> </a:t>
            </a:r>
            <a:r>
              <a:rPr b="0" sz="1125" i="0" u="none">
                <a:solidFill>
                  <a:srgbClr val="60A5FA"/>
                </a:solidFill>
                <a:latin typeface="JetBrains Mono"/>
              </a:rPr>
              <a:t>Subtraction (A - 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6590" y="4083248"/>
            <a:ext cx="494540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A1A1AA"/>
                </a:solidFill>
                <a:latin typeface="JetBrains Mono"/>
              </a:rPr>
              <a:t>S1 S0 = 10 :</a:t>
            </a:r>
            <a:r>
              <a:rPr b="0" sz="1125" i="0" u="none">
                <a:solidFill>
                  <a:srgbClr val="A1A1AA"/>
                </a:solidFill>
                <a:latin typeface="JetBrains Mono"/>
              </a:rPr>
              <a:t> </a:t>
            </a:r>
            <a:r>
              <a:rPr b="0" sz="1125" i="0" u="none">
                <a:solidFill>
                  <a:srgbClr val="FACC15"/>
                </a:solidFill>
                <a:latin typeface="JetBrains Mono"/>
              </a:rPr>
              <a:t>Bitwise AND (A &amp; 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6590" y="4397573"/>
            <a:ext cx="494540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125" i="0" u="none">
                <a:solidFill>
                  <a:srgbClr val="A1A1AA"/>
                </a:solidFill>
                <a:latin typeface="JetBrains Mono"/>
              </a:rPr>
              <a:t>S1 S0 = 11 :</a:t>
            </a:r>
            <a:r>
              <a:rPr b="0" sz="1125" i="0" u="none">
                <a:solidFill>
                  <a:srgbClr val="A1A1AA"/>
                </a:solidFill>
                <a:latin typeface="JetBrains Mono"/>
              </a:rPr>
              <a:t> </a:t>
            </a:r>
            <a:r>
              <a:rPr b="0" sz="1125" i="0" u="none">
                <a:solidFill>
                  <a:srgbClr val="F472B6"/>
                </a:solidFill>
                <a:latin typeface="JetBrains Mono"/>
              </a:rPr>
              <a:t>Bitwise OR (A | 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72175" y="2744985"/>
            <a:ext cx="5610225" cy="2305050"/>
          </a:xfrm>
          <a:prstGeom prst="roundRect">
            <a:avLst>
              <a:gd name="adj" fmla="val 4958"/>
            </a:avLst>
          </a:prstGeom>
          <a:solidFill>
            <a:srgbClr val="F4F4F5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425898"/>
            <a:ext cx="5133975" cy="1395412"/>
          </a:xfrm>
          <a:prstGeom prst="roundRect">
            <a:avLst>
              <a:gd name="adj" fmla="val 8191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73710"/>
            <a:ext cx="5133975" cy="1395412"/>
          </a:xfrm>
          <a:prstGeom prst="roundRect">
            <a:avLst>
              <a:gd name="adj" fmla="val 8191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297435"/>
            <a:ext cx="5133975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840360"/>
            <a:ext cx="5133975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4383285"/>
            <a:ext cx="5133975" cy="428625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4-Bit Adder / Subtractor Sub-Circuit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Controlled two's complement subtraction using XOR conditional bit complementers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0300" y="2983110"/>
            <a:ext cx="59817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9090B"/>
                </a:solidFill>
                <a:latin typeface="JetBrains Mono"/>
              </a:rPr>
              <a:t>Boolean Equations for FA_i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664023"/>
            <a:ext cx="5822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9090B"/>
                </a:solidFill>
                <a:latin typeface="Inter"/>
              </a:rPr>
              <a:t>XOR Bit Inversion Mechanism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40248"/>
            <a:ext cx="47529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Input line B_i passes through an XOR gate with mode control M = S0. When M=0, output is B_i. When M=1, output is B_i' (1's complement).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211835"/>
            <a:ext cx="58221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9090B"/>
                </a:solidFill>
                <a:latin typeface="Inter"/>
              </a:rPr>
              <a:t>Carry In Addition (+1)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488060"/>
            <a:ext cx="47529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The mode control signal M is fed into Cin of the LSB Full Adder (FA0). Adding 1 to 1's complement completes 2's complement subtraction.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3421260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Bi_eff = Bi ⊕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3964185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Si = Ai ⊕ Bi_eff ⊕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4507110"/>
            <a:ext cx="585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JetBrains Mono"/>
              </a:rPr>
              <a:t>C_{i+1} = (Ai · Bi_eff) + Ci · (Ai ⊕ Bi_eff)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59273"/>
            <a:ext cx="5372100" cy="2276475"/>
          </a:xfrm>
          <a:prstGeom prst="roundRect">
            <a:avLst>
              <a:gd name="adj" fmla="val 502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59273"/>
            <a:ext cx="5372100" cy="2276475"/>
          </a:xfrm>
          <a:prstGeom prst="roundRect">
            <a:avLst>
              <a:gd name="adj" fmla="val 502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4473773"/>
            <a:ext cx="4895850" cy="323850"/>
          </a:xfrm>
          <a:prstGeom prst="roundRect">
            <a:avLst>
              <a:gd name="adj" fmla="val 1764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48425" y="4473773"/>
            <a:ext cx="4895850" cy="323850"/>
          </a:xfrm>
          <a:prstGeom prst="roundRect">
            <a:avLst>
              <a:gd name="adj" fmla="val 1764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97398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2997398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87" y="3092648"/>
            <a:ext cx="1428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092648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Bitwise Logic Engine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Parallel quad-gate arrays performing instantaneous bitwise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30798"/>
            <a:ext cx="64258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9090B"/>
                </a:solidFill>
                <a:latin typeface="Space Grotesk"/>
              </a:rPr>
              <a:t>Bitwise AND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92748"/>
            <a:ext cx="49911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Constructed using four 2-input AND gates operating on matching bit pairs [A3..A0] and [B3..B0].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549973"/>
            <a:ext cx="483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5803D"/>
                </a:solidFill>
                <a:latin typeface="JetBrains Mono"/>
              </a:rPr>
              <a:t>Y_AND[i] = Ai ·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530798"/>
            <a:ext cx="57435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9090B"/>
                </a:solidFill>
                <a:latin typeface="Space Grotesk"/>
              </a:rPr>
              <a:t>Bitwise OR 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892748"/>
            <a:ext cx="49911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Constructed using four 2-input OR gates operating in parallel across input bus 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549973"/>
            <a:ext cx="48387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D4ED8"/>
                </a:solidFill>
                <a:latin typeface="JetBrains Mono"/>
              </a:rPr>
              <a:t>Y_OR[i] = Ai +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1198"/>
            <a:ext cx="5572125" cy="1952625"/>
          </a:xfrm>
          <a:prstGeom prst="roundRect">
            <a:avLst>
              <a:gd name="adj" fmla="val 585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6525" y="3221235"/>
            <a:ext cx="5095875" cy="1200150"/>
          </a:xfrm>
          <a:prstGeom prst="roundRect">
            <a:avLst>
              <a:gd name="adj" fmla="val 952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47725" y="3511748"/>
          <a:ext cx="5095873" cy="11239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02592"/>
                <a:gridCol w="558403"/>
                <a:gridCol w="1619398"/>
                <a:gridCol w="2415480"/>
              </a:tblGrid>
              <a:tr h="224790"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9090B"/>
                          </a:solidFill>
                          <a:latin typeface="Inter"/>
                        </a:rPr>
                        <a:t>S1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9090B"/>
                          </a:solidFill>
                          <a:latin typeface="Inter"/>
                        </a:rPr>
                        <a:t>S0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9090B"/>
                          </a:solidFill>
                          <a:latin typeface="Inter"/>
                        </a:rPr>
                        <a:t>Input Chosen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09090B"/>
                          </a:solidFill>
                          <a:latin typeface="Inter"/>
                        </a:rPr>
                        <a:t>Calculator Operation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4F5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18181B"/>
                          </a:solidFill>
                          <a:latin typeface="Inter"/>
                        </a:rPr>
                        <a:t>I0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16A34A"/>
                          </a:solidFill>
                          <a:latin typeface="Inter"/>
                        </a:rPr>
                        <a:t>ADD (A + 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18181B"/>
                          </a:solidFill>
                          <a:latin typeface="Inter"/>
                        </a:rPr>
                        <a:t>I1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2563EB"/>
                          </a:solidFill>
                          <a:latin typeface="Inter"/>
                        </a:rPr>
                        <a:t>SUB (A - 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18181B"/>
                          </a:solidFill>
                          <a:latin typeface="Inter"/>
                        </a:rPr>
                        <a:t>I2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D97706"/>
                          </a:solidFill>
                          <a:latin typeface="Inter"/>
                        </a:rPr>
                        <a:t>AND (A · 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125" i="0" u="none">
                          <a:solidFill>
                            <a:srgbClr val="18181B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18181B"/>
                          </a:solidFill>
                          <a:latin typeface="Inter"/>
                        </a:rPr>
                        <a:t>I3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25" i="0" u="none">
                          <a:solidFill>
                            <a:srgbClr val="9333EA"/>
                          </a:solidFill>
                          <a:latin typeface="Inter"/>
                        </a:rPr>
                        <a:t>OR (A + B)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Quad 4:1 Multiplexer Selection 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Selecting compute results and steering calculated values to the output bus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159323"/>
            <a:ext cx="636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9090B"/>
                </a:solidFill>
                <a:latin typeface="Inter"/>
              </a:rPr>
              <a:t>4:1 Multiplexer Truth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459360"/>
            <a:ext cx="5467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9090B"/>
                </a:solidFill>
                <a:latin typeface="Space Grotesk"/>
              </a:rPr>
              <a:t>Quad Multiplexer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3754635"/>
            <a:ext cx="47148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Requires four identical 4:1 multiplexers (one per output bit Y3, Y2, Y1, Y0), all sharing the same control select signals S1 and S0.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4548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054548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54548"/>
            <a:ext cx="3530649" cy="1685925"/>
          </a:xfrm>
          <a:prstGeom prst="roundRect">
            <a:avLst>
              <a:gd name="adj" fmla="val 677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3597473"/>
            <a:ext cx="3054399" cy="352425"/>
          </a:xfrm>
          <a:prstGeom prst="roundRect">
            <a:avLst>
              <a:gd name="adj" fmla="val 1621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68874" y="3597473"/>
            <a:ext cx="3054399" cy="352425"/>
          </a:xfrm>
          <a:prstGeom prst="roundRect">
            <a:avLst>
              <a:gd name="adj" fmla="val 16216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90024" y="3597473"/>
            <a:ext cx="3054399" cy="361950"/>
          </a:xfrm>
          <a:prstGeom prst="roundRect">
            <a:avLst>
              <a:gd name="adj" fmla="val 15789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Status Flag Generation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Detecting boundary conditions: Carry Out (Cout), Zero (Z), and Overflow (V)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92673"/>
            <a:ext cx="38179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A34A"/>
                </a:solidFill>
                <a:latin typeface="Inter"/>
              </a:rPr>
              <a:t>Zero Flag (Z)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692723"/>
            <a:ext cx="29591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9090B"/>
                </a:solidFill>
                <a:latin typeface="JetBrains Mono"/>
              </a:rPr>
              <a:t>Z = NOR(Y3, Y2, Y1, Y0)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4064198"/>
            <a:ext cx="31496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Asserts HIGH (1) whenever every bit of the 4-bit output result bus evaluates to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3292673"/>
            <a:ext cx="38179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563EB"/>
                </a:solidFill>
                <a:latin typeface="Inter"/>
              </a:rPr>
              <a:t>Carry Flag (Cout)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4124" y="3692723"/>
            <a:ext cx="29591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9090B"/>
                </a:solidFill>
                <a:latin typeface="JetBrains Mono"/>
              </a:rPr>
              <a:t>Cout = Carry from FA3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4064198"/>
            <a:ext cx="31496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Captures unsigned arithmetic overflow beyond 4 bits (e.g., sum exceeding 15).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3292673"/>
            <a:ext cx="381799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D97706"/>
                </a:solidFill>
                <a:latin typeface="Inter"/>
              </a:rPr>
              <a:t>Overflow Flag (V)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274" y="3692723"/>
            <a:ext cx="29591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9090B"/>
                </a:solidFill>
                <a:latin typeface="JetBrains Mono"/>
              </a:rPr>
              <a:t>V = C3 ⊕ Cout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4073723"/>
            <a:ext cx="31496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Detects signed two's complement arithmetic overflow when adding inputs of same 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810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Logisim Evolution Circuit Schematic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228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Full gate-level wiring diagram of the 4-Bit Binary Calculator in Logisim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8310"/>
            <a:ext cx="5600700" cy="2438400"/>
          </a:xfrm>
          <a:prstGeom prst="roundRect">
            <a:avLst>
              <a:gd name="adj" fmla="val 4687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5100" y="3221235"/>
            <a:ext cx="5067300" cy="1200150"/>
          </a:xfrm>
          <a:prstGeom prst="roundRect">
            <a:avLst>
              <a:gd name="adj" fmla="val 952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6300" y="4192785"/>
            <a:ext cx="5067300" cy="9525"/>
          </a:xfrm>
          <a:prstGeom prst="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Logisim Simulation: Addition Test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Evaluating inputs A = 0101 (5_10) and B = 0011 (3_10) with S1,S0 = 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45010"/>
            <a:ext cx="633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22C55E"/>
                </a:solidFill>
                <a:latin typeface="JetBrains Mono"/>
              </a:rPr>
              <a:t>Trace Execution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59335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71717A"/>
                </a:solidFill>
                <a:latin typeface="JetBrains Mono"/>
              </a:rPr>
              <a:t>Operand A 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0101 (Decimal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45085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71717A"/>
                </a:solidFill>
                <a:latin typeface="JetBrains Mono"/>
              </a:rPr>
              <a:t>Operand B 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0011 (Decimal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30835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71717A"/>
                </a:solidFill>
                <a:latin typeface="JetBrains Mono"/>
              </a:rPr>
              <a:t>Control 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S1=0, S0=0 (ADD)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268985"/>
            <a:ext cx="63341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22C55E"/>
                </a:solidFill>
                <a:latin typeface="JetBrains Mono"/>
              </a:rPr>
              <a:t>Output Y : 1000 (Decimal 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564260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EAB308"/>
                </a:solidFill>
                <a:latin typeface="JetBrains Mono"/>
              </a:rPr>
              <a:t>Flags 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Cout=0, Z=0, V=0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3459360"/>
            <a:ext cx="5438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9090B"/>
                </a:solidFill>
                <a:latin typeface="Space Grotesk"/>
              </a:rPr>
              <a:t>Logisim Probe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754635"/>
            <a:ext cx="46863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Individual full adder stages ripple carry bits successfully (C1=1, C2=1, C3=0) yielding exact expected output binary pattern 1000.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8310"/>
            <a:ext cx="5600700" cy="2438400"/>
          </a:xfrm>
          <a:prstGeom prst="roundRect">
            <a:avLst>
              <a:gd name="adj" fmla="val 4687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5100" y="3221235"/>
            <a:ext cx="5067300" cy="1200150"/>
          </a:xfrm>
          <a:prstGeom prst="roundRect">
            <a:avLst>
              <a:gd name="adj" fmla="val 952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6300" y="4192785"/>
            <a:ext cx="5067300" cy="9525"/>
          </a:xfrm>
          <a:prstGeom prst="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Logisim Simulation: Subtraction Test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Evaluating inputs A = 1001 (9_10) and B = 0100 (4_10) with S1,S0 =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45010"/>
            <a:ext cx="633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B82F6"/>
                </a:solidFill>
                <a:latin typeface="JetBrains Mono"/>
              </a:rPr>
              <a:t>Trace Execution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59335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71717A"/>
                </a:solidFill>
                <a:latin typeface="JetBrains Mono"/>
              </a:rPr>
              <a:t>Operand A 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1001 (Decimal 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45085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71717A"/>
                </a:solidFill>
                <a:latin typeface="JetBrains Mono"/>
              </a:rPr>
              <a:t>Operand B 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0100 (Decimal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830835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71717A"/>
                </a:solidFill>
                <a:latin typeface="JetBrains Mono"/>
              </a:rPr>
              <a:t>B Inverted: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1011 + Cin(1) = 1100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268985"/>
            <a:ext cx="63341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125" i="0" u="none">
                <a:solidFill>
                  <a:srgbClr val="60A5FA"/>
                </a:solidFill>
                <a:latin typeface="JetBrains Mono"/>
              </a:rPr>
              <a:t>Output Y : 0101 (Decimal 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564260"/>
            <a:ext cx="63341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EAB308"/>
                </a:solidFill>
                <a:latin typeface="JetBrains Mono"/>
              </a:rPr>
              <a:t>Flags :</a:t>
            </a:r>
            <a:r>
              <a:rPr b="0" sz="1125" i="0" u="none">
                <a:solidFill>
                  <a:srgbClr val="FAFAFA"/>
                </a:solidFill>
                <a:latin typeface="JetBrains Mono"/>
              </a:rPr>
              <a:t> Cout=1 (No Borrow), Z=0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3225" y="3459360"/>
            <a:ext cx="54387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9090B"/>
                </a:solidFill>
                <a:latin typeface="Space Grotesk"/>
              </a:rPr>
              <a:t>2's Complement Hardware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3754635"/>
            <a:ext cx="46863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52525B"/>
                </a:solidFill>
                <a:latin typeface="Inter"/>
              </a:rPr>
              <a:t>Inverting B to 1011 and injecting Cin=1 converts subtraction directly into addition: 1001 + 1100 = (1) 0101.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8848"/>
            <a:ext cx="3530649" cy="1457325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168848"/>
            <a:ext cx="3530649" cy="1457325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68848"/>
            <a:ext cx="3530649" cy="1457325"/>
          </a:xfrm>
          <a:prstGeom prst="roundRect">
            <a:avLst>
              <a:gd name="adj" fmla="val 784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9090B"/>
                </a:solidFill>
                <a:latin typeface="Space Grotesk"/>
              </a:rPr>
              <a:t>Hardware Complexity &amp; Propagation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1717A"/>
                </a:solidFill>
                <a:latin typeface="Inter"/>
              </a:rPr>
              <a:t>Quantitative gate count metrics and critical path timing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06973"/>
            <a:ext cx="3817999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9090B"/>
                </a:solidFill>
                <a:latin typeface="JetBrains Mono"/>
              </a:rPr>
              <a:t>42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97498"/>
            <a:ext cx="38179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7272A"/>
                </a:solidFill>
                <a:latin typeface="Inter"/>
              </a:rPr>
              <a:t>Total Component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064198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717A"/>
                </a:solidFill>
                <a:latin typeface="Inter"/>
              </a:rPr>
              <a:t>Includes XOR inverters, Full Adder gates, AND/OR logic gates, and MUX selectors.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8874" y="3406973"/>
            <a:ext cx="3817999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9090B"/>
                </a:solidFill>
                <a:latin typeface="JetBrains Mono"/>
              </a:rPr>
              <a:t>9 t_gate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97498"/>
            <a:ext cx="38179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7272A"/>
                </a:solidFill>
                <a:latin typeface="Inter"/>
              </a:rPr>
              <a:t>Critical Path Delay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4064198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717A"/>
                </a:solidFill>
                <a:latin typeface="Inter"/>
              </a:rPr>
              <a:t>Worst-case propagation path through 4-bit carry chain into multiplexer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24" y="3406973"/>
            <a:ext cx="3817999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9090B"/>
                </a:solidFill>
                <a:latin typeface="JetBrains Mono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3797498"/>
            <a:ext cx="381799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7272A"/>
                </a:solidFill>
                <a:latin typeface="Inter"/>
              </a:rPr>
              <a:t>Logisim Test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024" y="4064198"/>
            <a:ext cx="314964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1717A"/>
                </a:solidFill>
                <a:latin typeface="Inter"/>
              </a:rPr>
              <a:t>Verified exhaustively across all 16 arithmetic and logical input combinations.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95575" y="3938587"/>
            <a:ext cx="2362200" cy="523875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48275" y="3938587"/>
            <a:ext cx="2076450" cy="523875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15225" y="3938587"/>
            <a:ext cx="1981200" cy="523875"/>
          </a:xfrm>
          <a:prstGeom prst="roundRect">
            <a:avLst>
              <a:gd name="adj" fmla="val 14545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7939" y="2395537"/>
            <a:ext cx="8976121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FAFAFA"/>
                </a:solidFill>
                <a:latin typeface="Space Grotesk"/>
              </a:rPr>
              <a:t>Scaling 4-Bit Design to 32-Bit CPUs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1156" y="3052762"/>
            <a:ext cx="8929687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b="0" sz="1425" i="0" u="none">
                <a:solidFill>
                  <a:srgbClr val="A1A1AA"/>
                </a:solidFill>
                <a:latin typeface="Inter"/>
              </a:rPr>
              <a:t>This 4-bit calculator establishes the exact same architectural principles utilized inside modern 32-bit and 64-bit RISC-V processor ALUs.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4090987"/>
            <a:ext cx="24193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2C55E"/>
                </a:solidFill>
                <a:latin typeface="JetBrains Mono"/>
              </a:rPr>
              <a:t>Combinational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5418" y="4090987"/>
            <a:ext cx="206216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2C55E"/>
                </a:solidFill>
                <a:latin typeface="JetBrains Mono"/>
              </a:rPr>
              <a:t>Logisim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34275" y="4090987"/>
            <a:ext cx="19431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22C55E"/>
                </a:solidFill>
                <a:latin typeface="JetBrains Mono"/>
              </a:rPr>
              <a:t>RISC-V Datapath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